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"/>
  </p:notesMasterIdLst>
  <p:sldIdLst>
    <p:sldId id="377" r:id="rId2"/>
  </p:sldIdLst>
  <p:sldSz cx="12192000" cy="6858000"/>
  <p:notesSz cx="6858000" cy="9144000"/>
  <p:embeddedFontLst>
    <p:embeddedFont>
      <p:font typeface="Albert Sans" panose="020B0604020202020204" charset="0"/>
      <p:regular r:id="rId4"/>
      <p:bold r:id="rId5"/>
      <p:italic r:id="rId6"/>
      <p:boldItalic r:id="rId7"/>
    </p:embeddedFont>
    <p:embeddedFont>
      <p:font typeface="Albert Sans SemiBold" panose="020B0604020202020204" charset="0"/>
      <p:regular r:id="rId8"/>
      <p:bold r:id="rId9"/>
      <p:italic r:id="rId10"/>
      <p:boldItalic r:id="rId11"/>
    </p:embeddedFont>
    <p:embeddedFont>
      <p:font typeface="Algerian" panose="04020705040A02060702" pitchFamily="82" charset="0"/>
      <p:regular r:id="rId12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32BE"/>
    <a:srgbClr val="196283"/>
    <a:srgbClr val="005176"/>
    <a:srgbClr val="69B5F8"/>
    <a:srgbClr val="619E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57" autoAdjust="0"/>
    <p:restoredTop sz="66761" autoAdjust="0"/>
  </p:normalViewPr>
  <p:slideViewPr>
    <p:cSldViewPr snapToGrid="0" showGuides="1">
      <p:cViewPr varScale="1">
        <p:scale>
          <a:sx n="64" d="100"/>
          <a:sy n="64" d="100"/>
        </p:scale>
        <p:origin x="1284" y="4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E479C-8473-5649-B36A-750E7B20C633}" type="datetimeFigureOut">
              <a:rPr lang="de-DE" smtClean="0"/>
              <a:t>27.07.2026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E2BE3-FDEB-B245-8AD9-FE155515E7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96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51B15-9E74-60FF-38AF-141E6ED3A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01626-DFA8-CA35-917A-57083B366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0DAAE-0464-0BF4-823F-D18C0695E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MuPDARF besteht aus vier Schritten: 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dirty="0"/>
              <a:t>1. Im ersten Schritt wird ein Vorhersagemodell für die L1-Daten angepasst. (HIER MIT </a:t>
            </a:r>
            <a:r>
              <a:rPr lang="es-ES" dirty="0"/>
              <a:t>Variable </a:t>
            </a:r>
            <a:r>
              <a:rPr lang="de-DE" sz="1200" b="1" dirty="0" err="1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de-DE" sz="1200" b="1" dirty="0" err="1">
                <a:ln w="3175">
                  <a:noFill/>
                </a:ln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ubjectGenus</a:t>
            </a:r>
            <a:r>
              <a:rPr lang="de-DE" sz="1200" b="1" dirty="0">
                <a:ln w="3175">
                  <a:noFill/>
                </a:ln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200" b="0" dirty="0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DE" sz="1200" b="0" dirty="0" err="1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mask</a:t>
            </a:r>
            <a:r>
              <a:rPr lang="de-DE" sz="1200" b="0" dirty="0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DE" sz="1200" b="0" dirty="0" err="1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fem</a:t>
            </a:r>
            <a:r>
              <a:rPr lang="de-DE" sz="1200" b="0" dirty="0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2. Im zweiten Schritt wird dieses Modell auf die L2-Daten angewendet. </a:t>
            </a:r>
          </a:p>
          <a:p>
            <a:pPr marL="228600" indent="-228600">
              <a:buAutoNum type="arabicPeriod"/>
            </a:pPr>
            <a:endParaRPr lang="de-DE" dirty="0"/>
          </a:p>
          <a:p>
            <a:pPr marL="0" indent="0">
              <a:buNone/>
            </a:pPr>
            <a:r>
              <a:rPr lang="de-DE" dirty="0"/>
              <a:t>3. Im dritten Schritt werden die Vorhersagen des L1-Modells mit den Beobachtungen in den L2-Daten verglichen und es wird festgehalten, ob das L2-Verhalten den L1-Vorhersagen entspricht oder nicht. Durch diesen Schritt wird eine neue Variable erstellt (</a:t>
            </a:r>
            <a:r>
              <a:rPr lang="de-DE" i="1" dirty="0" err="1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ReferenceLike</a:t>
            </a:r>
            <a:r>
              <a:rPr lang="de-DE" dirty="0"/>
              <a:t>), die die Ähnlichkeit der L2-Sprechenden kodiert, d. h. wie ähnlich oder unähnlich sich L2-Spreche:innen in einem bestimmten Kontext gegenüber L1-Sprecher:innen verhalten.</a:t>
            </a:r>
          </a:p>
          <a:p>
            <a:pPr marL="0" indent="0">
              <a:buNone/>
            </a:pP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4. In Schritt vier wird diese Variable als neue Zielvariable in einem explorativen Modell integriert.</a:t>
            </a:r>
            <a:endParaRPr lang="de-DE" i="0" dirty="0">
              <a:ln w="3175">
                <a:solidFill>
                  <a:schemeClr val="tx1"/>
                </a:solidFill>
              </a:ln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0" dirty="0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Neue </a:t>
            </a:r>
            <a:r>
              <a:rPr lang="es-ES" dirty="0" err="1"/>
              <a:t>Prediktoren</a:t>
            </a:r>
            <a:r>
              <a:rPr lang="es-ES" dirty="0"/>
              <a:t> </a:t>
            </a:r>
            <a:r>
              <a:rPr lang="es-ES" dirty="0" err="1"/>
              <a:t>vorlesen</a:t>
            </a:r>
            <a:r>
              <a:rPr lang="es-ES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200" b="1" dirty="0" err="1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ReferenceLike</a:t>
            </a:r>
            <a:r>
              <a:rPr lang="de-DE" sz="1200" b="0" dirty="0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(TRUE/FALSE),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200" b="1" dirty="0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</a:t>
            </a:r>
            <a:r>
              <a:rPr lang="de-DE" sz="1200" b="0" dirty="0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(Wie gut schneiden L2 </a:t>
            </a:r>
            <a:r>
              <a:rPr lang="de-DE" sz="1200" b="0" dirty="0" err="1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Sprecher:innen</a:t>
            </a:r>
            <a:r>
              <a:rPr lang="de-DE" sz="1200" b="0" dirty="0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der Aufgabe ab)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i="0" dirty="0">
              <a:ln w="3175">
                <a:solidFill>
                  <a:schemeClr val="tx1"/>
                </a:solidFill>
              </a:ln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i="1" dirty="0">
              <a:ln w="3175">
                <a:solidFill>
                  <a:schemeClr val="tx1"/>
                </a:solidFill>
              </a:ln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ES" dirty="0"/>
          </a:p>
          <a:p>
            <a:pPr marL="228600" indent="-228600">
              <a:buAutoNum type="arabicPeriod"/>
            </a:pP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6ACB2-AA18-3846-85BB-9DCC35A7D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E2BE3-FDEB-B245-8AD9-FE155515E7D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930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24BC67-9B79-EF75-0AF0-8F81DF93E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572" y="1925948"/>
            <a:ext cx="9561843" cy="2133241"/>
          </a:xfrm>
        </p:spPr>
        <p:txBody>
          <a:bodyPr anchor="b" anchorCtr="0">
            <a:noAutofit/>
          </a:bodyPr>
          <a:lstStyle>
            <a:lvl1pPr algn="l">
              <a:defRPr sz="4400" b="1" i="0">
                <a:solidFill>
                  <a:schemeClr val="accent1"/>
                </a:solidFill>
                <a:latin typeface="Albert Sans" pitchFamily="2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526B7D-4039-F443-1E7D-319E5DF86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571" y="4419338"/>
            <a:ext cx="9561843" cy="934634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accent6"/>
                </a:solidFill>
                <a:latin typeface="Albert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7BBDAD-58CA-FBFC-962B-8788EF0E35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7465" y="550977"/>
            <a:ext cx="3033077" cy="136769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02AF2BB-2CD2-4D94-98F3-D812D58D6819}"/>
              </a:ext>
            </a:extLst>
          </p:cNvPr>
          <p:cNvSpPr/>
          <p:nvPr userDrawn="1"/>
        </p:nvSpPr>
        <p:spPr>
          <a:xfrm>
            <a:off x="436880" y="5786120"/>
            <a:ext cx="1686560" cy="1071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lbert Sans" pitchFamily="2" charset="0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A660AAD-253B-4D87-9A9A-18D772FDF4B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76228" y="6308734"/>
            <a:ext cx="1221711" cy="244830"/>
          </a:xfrm>
        </p:spPr>
        <p:txBody>
          <a:bodyPr/>
          <a:lstStyle>
            <a:lvl1pPr>
              <a:defRPr>
                <a:latin typeface="Albert Sans" pitchFamily="2" charset="0"/>
              </a:defRPr>
            </a:lvl1pPr>
          </a:lstStyle>
          <a:p>
            <a:fld id="{794336A3-40C3-4987-82C1-88BC4BDB3ECE}" type="datetime1">
              <a:rPr lang="de-DE" smtClean="0"/>
              <a:t>27.07.2026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0BD1182-8153-47B0-8C09-8B01CE0F67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07571" y="6308734"/>
            <a:ext cx="5436284" cy="244830"/>
          </a:xfrm>
        </p:spPr>
        <p:txBody>
          <a:bodyPr/>
          <a:lstStyle>
            <a:lvl1pPr>
              <a:defRPr>
                <a:latin typeface="Albert Sans" pitchFamily="2" charset="0"/>
              </a:defRPr>
            </a:lvl1pPr>
          </a:lstStyle>
          <a:p>
            <a:r>
              <a:rPr lang="de-DE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KoRoLi</a:t>
            </a:r>
            <a:r>
              <a:rPr lang="de-DE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SoSe 2026</a:t>
            </a:r>
          </a:p>
        </p:txBody>
      </p:sp>
    </p:spTree>
    <p:extLst>
      <p:ext uri="{BB962C8B-B14F-4D97-AF65-F5344CB8AC3E}">
        <p14:creationId xmlns:p14="http://schemas.microsoft.com/office/powerpoint/2010/main" val="2332740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094" userDrawn="1">
          <p15:clr>
            <a:srgbClr val="FBAE40"/>
          </p15:clr>
        </p15:guide>
        <p15:guide id="4" orient="horz" pos="913" userDrawn="1">
          <p15:clr>
            <a:srgbClr val="FBAE40"/>
          </p15:clr>
        </p15:guide>
        <p15:guide id="5" orient="horz" pos="6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E09D31D-F38C-EEB6-B21C-18608CCD2A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lbert Sans" pitchFamily="2" charset="0"/>
              </a:defRPr>
            </a:lvl1pPr>
          </a:lstStyle>
          <a:p>
            <a:fld id="{C2CC49CF-0F43-4253-97C2-340E7D43F92B}" type="datetime1">
              <a:rPr lang="de-DE" smtClean="0"/>
              <a:t>27.07.2026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07571" y="6308734"/>
            <a:ext cx="5436284" cy="24483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lbert Sans" pitchFamily="2" charset="0"/>
              </a:defRPr>
            </a:lvl1pPr>
          </a:lstStyle>
          <a:p>
            <a:r>
              <a:rPr lang="de-DE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KoRoLi</a:t>
            </a:r>
            <a:r>
              <a:rPr lang="de-DE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SoSe 2026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lbert Sans" pitchFamily="2" charset="0"/>
              </a:defRPr>
            </a:lvl1pPr>
          </a:lstStyle>
          <a:p>
            <a:fld id="{833FA4B0-7731-EC49-88EA-B5E921ABE78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849ABC20-F75F-4E1D-BD15-DBC9D6909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572" y="1925948"/>
            <a:ext cx="9561843" cy="2133241"/>
          </a:xfrm>
        </p:spPr>
        <p:txBody>
          <a:bodyPr anchor="b" anchorCtr="0">
            <a:noAutofit/>
          </a:bodyPr>
          <a:lstStyle>
            <a:lvl1pPr algn="l">
              <a:defRPr sz="4400" b="1" i="0">
                <a:solidFill>
                  <a:schemeClr val="bg1"/>
                </a:solidFill>
                <a:latin typeface="Albert Sans" pitchFamily="2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C0968FB3-E8DB-458A-A4F8-BFA34FFE8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571" y="4419338"/>
            <a:ext cx="9561843" cy="934634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lbert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FD1DD12-F043-4583-B836-133EAD4FE0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603" y="554646"/>
            <a:ext cx="3016801" cy="136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bg>
      <p:bgPr>
        <a:solidFill>
          <a:srgbClr val="619E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162475E-C213-438E-BB37-4F3ED8A69BD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DC936E9E-59F5-471F-A631-941270C81F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616" t="-45931" r="12815" b="12339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915E9D18-F2CB-4662-8EBA-659941955F9A}"/>
                </a:ext>
              </a:extLst>
            </p:cNvPr>
            <p:cNvSpPr/>
            <p:nvPr userDrawn="1"/>
          </p:nvSpPr>
          <p:spPr>
            <a:xfrm>
              <a:off x="0" y="2168872"/>
              <a:ext cx="12192000" cy="2695227"/>
            </a:xfrm>
            <a:prstGeom prst="rect">
              <a:avLst/>
            </a:prstGeom>
            <a:gradFill flip="none" rotWithShape="1">
              <a:gsLst>
                <a:gs pos="0">
                  <a:srgbClr val="619ECF">
                    <a:alpha val="0"/>
                  </a:srgbClr>
                </a:gs>
                <a:gs pos="86000">
                  <a:srgbClr val="619ECF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/>
                </a:solidFill>
                <a:latin typeface="Albert Sans" pitchFamily="2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80ABACE3-7650-415C-BEB6-3AC3C3EFBBC7}"/>
                </a:ext>
              </a:extLst>
            </p:cNvPr>
            <p:cNvSpPr/>
            <p:nvPr userDrawn="1"/>
          </p:nvSpPr>
          <p:spPr>
            <a:xfrm>
              <a:off x="0" y="4162772"/>
              <a:ext cx="6838950" cy="2695227"/>
            </a:xfrm>
            <a:prstGeom prst="rect">
              <a:avLst/>
            </a:prstGeom>
            <a:gradFill flip="none" rotWithShape="1">
              <a:gsLst>
                <a:gs pos="75000">
                  <a:srgbClr val="002060">
                    <a:alpha val="0"/>
                  </a:srgbClr>
                </a:gs>
                <a:gs pos="100000">
                  <a:schemeClr val="accent1">
                    <a:lumMod val="100000"/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/>
                </a:solidFill>
                <a:latin typeface="Albert Sans" pitchFamily="2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524BC67-9B79-EF75-0AF0-8F81DF93E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572" y="1925716"/>
            <a:ext cx="9561843" cy="2133473"/>
          </a:xfrm>
        </p:spPr>
        <p:txBody>
          <a:bodyPr anchor="b" anchorCtr="0">
            <a:noAutofit/>
          </a:bodyPr>
          <a:lstStyle>
            <a:lvl1pPr algn="l">
              <a:defRPr sz="4400" b="1" i="0">
                <a:solidFill>
                  <a:schemeClr val="bg1"/>
                </a:solidFill>
                <a:latin typeface="Albert Sans" pitchFamily="2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526B7D-4039-F443-1E7D-319E5DF86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571" y="4419338"/>
            <a:ext cx="9561843" cy="934634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lbert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A660AAD-253B-4D87-9A9A-18D772FDF4B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76228" y="6308734"/>
            <a:ext cx="1221711" cy="24483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40000"/>
                    </a:prstClr>
                  </a:outerShdw>
                </a:effectLst>
                <a:latin typeface="Albert Sans" pitchFamily="2" charset="0"/>
              </a:defRPr>
            </a:lvl1pPr>
          </a:lstStyle>
          <a:p>
            <a:fld id="{305BCCC1-A4A5-42AC-920A-BBD354D051AD}" type="datetime1">
              <a:rPr lang="de-DE" smtClean="0"/>
              <a:t>27.07.2026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0BD1182-8153-47B0-8C09-8B01CE0F67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07571" y="6308734"/>
            <a:ext cx="5436284" cy="24483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40000"/>
                    </a:prstClr>
                  </a:outerShdw>
                </a:effectLst>
                <a:latin typeface="Albert Sans" pitchFamily="2" charset="0"/>
              </a:defRPr>
            </a:lvl1pPr>
          </a:lstStyle>
          <a:p>
            <a:r>
              <a:rPr lang="de-DE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KoRoLi</a:t>
            </a:r>
            <a:r>
              <a:rPr lang="de-DE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SoSe 2026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7CBD1EB-984B-43BE-9711-A80AE54FB0C1}"/>
              </a:ext>
            </a:extLst>
          </p:cNvPr>
          <p:cNvSpPr txBox="1"/>
          <p:nvPr userDrawn="1"/>
        </p:nvSpPr>
        <p:spPr>
          <a:xfrm rot="16200000">
            <a:off x="11150600" y="2184400"/>
            <a:ext cx="1866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accent1"/>
                </a:solidFill>
                <a:latin typeface="Albert Sans" pitchFamily="2" charset="0"/>
              </a:rPr>
              <a:t>Foto: Gregor Hübl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97F438F-8AFB-4F77-B370-9432B72DF9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603" y="554646"/>
            <a:ext cx="3016801" cy="136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448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913">
          <p15:clr>
            <a:srgbClr val="FBAE40"/>
          </p15:clr>
        </p15:guide>
        <p15:guide id="5" orient="horz" pos="6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3F2ED0D-59AA-1DCB-151E-733D18A5D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6305" y="1925432"/>
            <a:ext cx="10954833" cy="4167393"/>
          </a:xfrm>
        </p:spPr>
        <p:txBody>
          <a:bodyPr>
            <a:noAutofit/>
          </a:bodyPr>
          <a:lstStyle>
            <a:lvl1pPr>
              <a:defRPr>
                <a:latin typeface="Algerian" panose="04020705040A02060702" pitchFamily="82" charset="0"/>
              </a:defRPr>
            </a:lvl1pPr>
            <a:lvl2pPr>
              <a:defRPr>
                <a:latin typeface="Algerian" panose="04020705040A02060702" pitchFamily="82" charset="0"/>
              </a:defRPr>
            </a:lvl2pPr>
            <a:lvl3pPr>
              <a:defRPr>
                <a:latin typeface="Algerian" panose="04020705040A02060702" pitchFamily="82" charset="0"/>
              </a:defRPr>
            </a:lvl3pPr>
            <a:lvl4pPr>
              <a:defRPr>
                <a:latin typeface="Algerian" panose="04020705040A02060702" pitchFamily="82" charset="0"/>
              </a:defRPr>
            </a:lvl4pPr>
            <a:lvl5pPr>
              <a:defRPr>
                <a:latin typeface="Algerian" panose="04020705040A02060702" pitchFamily="82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B3FC9CDE-4414-3EAA-F594-B1C3BC6DC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121563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E864DA7-6C02-419E-8405-6BE90083A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9E6DB-65C2-4FE0-BBD4-DEEEB6CF49AE}" type="datetime1">
              <a:rPr lang="de-DE" smtClean="0"/>
              <a:t>27.07.2026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BD6E6C-07E6-4F88-B45C-2056E3E3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KoRoLi</a:t>
            </a:r>
            <a:r>
              <a:rPr lang="de-DE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SoSe 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0C6C7F-0833-4D5B-A2C2-173B6B37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2401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B2830F-D331-528E-5294-480952523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6305" y="1925432"/>
            <a:ext cx="5202867" cy="4167393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1D6858F6-5929-23CF-45F8-6B80487D3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121563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947893-609E-4FD1-A221-D8EA9C77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985A-7E4F-4449-BA91-55CD434CD5B7}" type="datetime1">
              <a:rPr lang="de-DE" smtClean="0"/>
              <a:t>27.07.2026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E977AD6-F42B-468B-AD89-A2B1DA6E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KoRoLi</a:t>
            </a:r>
            <a:r>
              <a:rPr lang="de-DE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SoSe 2026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C5764AD6-4554-4A6B-9E6D-4A131628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9DA8AEF-4502-44C8-BCAE-522C934A6EA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38271" y="1930624"/>
            <a:ext cx="5202867" cy="4167393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3850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B2830F-D331-528E-5294-480952523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6305" y="1925432"/>
            <a:ext cx="5181600" cy="4167393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FCA0A4F3-F587-7736-0D65-8C49FA103C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1925638"/>
            <a:ext cx="6096000" cy="4167187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</a:lstStyle>
          <a:p>
            <a:r>
              <a:rPr lang="de-DE" dirty="0"/>
              <a:t>Hier können Sie ein Bild einfügen</a:t>
            </a:r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89688D5-31CC-8F2D-A204-458401BB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121563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9300D5A-2358-4BDE-8AD0-414C4ED611F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E054FD8-2379-4A6C-9828-6093A8ECE0FF}" type="datetime1">
              <a:rPr lang="de-DE" smtClean="0"/>
              <a:t>27.07.2026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494070B-692A-47CC-9F84-5FC408B7815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KoRoLi</a:t>
            </a:r>
            <a:r>
              <a:rPr lang="de-DE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SoSe 2026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6F22E22-B305-4BA3-A40C-CD4F970AE3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5C21017-6096-429D-B5EA-A79AA139C5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7738" y="6092825"/>
            <a:ext cx="4343400" cy="215909"/>
          </a:xfrm>
        </p:spPr>
        <p:txBody>
          <a:bodyPr anchor="ctr">
            <a:noAutofit/>
          </a:bodyPr>
          <a:lstStyle>
            <a:lvl1pPr marL="0" indent="0" algn="r">
              <a:buNone/>
              <a:defRPr sz="800">
                <a:solidFill>
                  <a:schemeClr val="bg2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Foto: Bildnachweis</a:t>
            </a:r>
          </a:p>
        </p:txBody>
      </p:sp>
    </p:spTree>
    <p:extLst>
      <p:ext uri="{BB962C8B-B14F-4D97-AF65-F5344CB8AC3E}">
        <p14:creationId xmlns:p14="http://schemas.microsoft.com/office/powerpoint/2010/main" val="658263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E09D31D-F38C-EEB6-B21C-18608CCD2A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7587547-EC04-5499-1CC7-AF77F74DC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846603"/>
            <a:ext cx="8202613" cy="2852737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C3C8B-B081-5C18-932E-69376A7990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51" y="331894"/>
            <a:ext cx="2608263" cy="1584219"/>
          </a:xfrm>
        </p:spPr>
        <p:txBody>
          <a:bodyPr>
            <a:noAutofit/>
          </a:bodyPr>
          <a:lstStyle>
            <a:lvl1pPr marL="0" indent="0">
              <a:buNone/>
              <a:defRPr sz="13200" b="1" i="0">
                <a:solidFill>
                  <a:schemeClr val="bg1"/>
                </a:solidFill>
                <a:latin typeface="Albert Sa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E67B5F-6449-4F42-BC56-5F80F5510B1E}" type="datetime1">
              <a:rPr lang="de-DE" smtClean="0"/>
              <a:t>27.07.2026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KoRoLi</a:t>
            </a:r>
            <a:r>
              <a:rPr lang="de-DE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SoSe 2026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89C29918-CB2F-4B95-8F78-CDB747560B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825" y="6137764"/>
            <a:ext cx="1366153" cy="6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69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587547-EC04-5499-1CC7-AF77F74DC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2846603"/>
            <a:ext cx="8202612" cy="2852737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 </a:t>
            </a:r>
            <a:r>
              <a:rPr lang="de-DE" dirty="0" err="1"/>
              <a:t>format</a:t>
            </a:r>
            <a:r>
              <a:rPr lang="de-DE" dirty="0"/>
              <a:t>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C3C8B-B081-5C18-932E-69376A7990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51" y="331894"/>
            <a:ext cx="2608263" cy="1584219"/>
          </a:xfrm>
        </p:spPr>
        <p:txBody>
          <a:bodyPr>
            <a:noAutofit/>
          </a:bodyPr>
          <a:lstStyle>
            <a:lvl1pPr marL="0" indent="0">
              <a:buNone/>
              <a:defRPr sz="13200" b="1" i="0">
                <a:solidFill>
                  <a:schemeClr val="accent4"/>
                </a:solidFill>
                <a:latin typeface="Albert Sa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2134CB3-9523-432B-8202-72967AB58890}" type="datetime1">
              <a:rPr lang="de-DE" smtClean="0"/>
              <a:t>27.07.2026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KoRoLi</a:t>
            </a:r>
            <a:r>
              <a:rPr lang="de-DE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SoSe 2026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32A2A40-5F05-4D0F-A092-D8D65B262210}"/>
              </a:ext>
            </a:extLst>
          </p:cNvPr>
          <p:cNvSpPr/>
          <p:nvPr userDrawn="1"/>
        </p:nvSpPr>
        <p:spPr>
          <a:xfrm>
            <a:off x="9571216" y="-1026339"/>
            <a:ext cx="4300683" cy="4300683"/>
          </a:xfrm>
          <a:prstGeom prst="ellipse">
            <a:avLst/>
          </a:prstGeom>
          <a:noFill/>
          <a:ln w="444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1670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 01.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E09D31D-F38C-EEB6-B21C-18608CCD2A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7587547-EC04-5499-1CC7-AF77F74DC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2846603"/>
            <a:ext cx="5210175" cy="2852737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 </a:t>
            </a:r>
            <a:r>
              <a:rPr lang="de-DE" dirty="0" err="1"/>
              <a:t>format</a:t>
            </a:r>
            <a:r>
              <a:rPr lang="de-DE" dirty="0"/>
              <a:t>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C3C8B-B081-5C18-932E-69376A7990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51" y="331894"/>
            <a:ext cx="2608263" cy="1584219"/>
          </a:xfrm>
        </p:spPr>
        <p:txBody>
          <a:bodyPr>
            <a:noAutofit/>
          </a:bodyPr>
          <a:lstStyle>
            <a:lvl1pPr marL="0" indent="0">
              <a:buNone/>
              <a:defRPr sz="13200" b="1" i="0">
                <a:solidFill>
                  <a:schemeClr val="bg1"/>
                </a:solidFill>
                <a:latin typeface="Albert Sa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DDAB98-2688-4FAC-8213-7E05A2DEDC44}" type="datetime1">
              <a:rPr lang="de-DE" smtClean="0"/>
              <a:t>27.07.2026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KoRoLi</a:t>
            </a:r>
            <a:r>
              <a:rPr lang="de-DE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SoSe 2026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98EFC909-035C-4262-9908-EF1702D9EF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3212" y="968591"/>
            <a:ext cx="4730751" cy="4730749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marR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>
                <a:solidFill>
                  <a:schemeClr val="accent3"/>
                </a:solidFill>
              </a:defRPr>
            </a:lvl1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Hier können Sie ein Bild einfügen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DCBB7A7-D78F-49F8-BEF4-049208F844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7738" y="6092825"/>
            <a:ext cx="4343400" cy="215909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Foto: Hier können Sie einen Bildnachweis einfügen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D4CF2CF-DA22-47FD-B9AC-5AD97AF32F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825" y="6137764"/>
            <a:ext cx="1366153" cy="6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98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 02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587547-EC04-5499-1CC7-AF77F74DC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2846603"/>
            <a:ext cx="5210175" cy="2852737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 </a:t>
            </a:r>
            <a:r>
              <a:rPr lang="de-DE" dirty="0" err="1"/>
              <a:t>format</a:t>
            </a:r>
            <a:r>
              <a:rPr lang="de-DE" dirty="0"/>
              <a:t>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C3C8B-B081-5C18-932E-69376A7990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51" y="331894"/>
            <a:ext cx="2608263" cy="1584219"/>
          </a:xfrm>
        </p:spPr>
        <p:txBody>
          <a:bodyPr>
            <a:noAutofit/>
          </a:bodyPr>
          <a:lstStyle>
            <a:lvl1pPr marL="0" indent="0">
              <a:buNone/>
              <a:defRPr sz="13200" b="1" i="0">
                <a:solidFill>
                  <a:schemeClr val="accent4"/>
                </a:solidFill>
                <a:latin typeface="Albert Sa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8C8ACB2-669B-47AB-9B1A-21DD5FE7841E}" type="datetime1">
              <a:rPr lang="de-DE" smtClean="0"/>
              <a:t>27.07.2026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KoRoLi</a:t>
            </a:r>
            <a:r>
              <a:rPr lang="de-DE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SoSe 2026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DCBB7A7-D78F-49F8-BEF4-049208F844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7738" y="6092825"/>
            <a:ext cx="4343400" cy="215909"/>
          </a:xfrm>
        </p:spPr>
        <p:txBody>
          <a:bodyPr anchor="ctr">
            <a:noAutofit/>
          </a:bodyPr>
          <a:lstStyle>
            <a:lvl1pPr marL="0" marR="0" indent="0" algn="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 sz="800">
                <a:solidFill>
                  <a:schemeClr val="bg2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Foto: Hier können Sie einen Bildnachweis einfügen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6D148F8-63C5-46C5-A34B-F98FD4597797}"/>
              </a:ext>
            </a:extLst>
          </p:cNvPr>
          <p:cNvSpPr/>
          <p:nvPr userDrawn="1"/>
        </p:nvSpPr>
        <p:spPr>
          <a:xfrm>
            <a:off x="9571216" y="-1026339"/>
            <a:ext cx="4300683" cy="4300683"/>
          </a:xfrm>
          <a:prstGeom prst="ellipse">
            <a:avLst/>
          </a:prstGeom>
          <a:noFill/>
          <a:ln w="444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98EFC909-035C-4262-9908-EF1702D9EF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3212" y="968591"/>
            <a:ext cx="4730751" cy="4730749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marR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>
                <a:solidFill>
                  <a:schemeClr val="accent4"/>
                </a:solidFill>
              </a:defRPr>
            </a:lvl1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Hier können Sie ein Bild einfügen</a:t>
            </a:r>
          </a:p>
        </p:txBody>
      </p:sp>
    </p:spTree>
    <p:extLst>
      <p:ext uri="{BB962C8B-B14F-4D97-AF65-F5344CB8AC3E}">
        <p14:creationId xmlns:p14="http://schemas.microsoft.com/office/powerpoint/2010/main" val="195425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470D71-D16E-50A0-925D-BA830252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12156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F9142C-32A3-29E3-FA58-AB5F5D1D7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600" y="1922400"/>
            <a:ext cx="10953538" cy="41706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9B9DB8-3727-FEA1-3D37-DE24327B5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6227" y="6323366"/>
            <a:ext cx="1221711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fld id="{E50585DB-ADAE-4971-9301-01E9B2B7BBAE}" type="datetime1">
              <a:rPr lang="de-DE" smtClean="0"/>
              <a:t>27.07.2026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071991-F9E6-D3A5-AE88-C9E13C745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7938" y="6323366"/>
            <a:ext cx="2743200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100" b="1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fld id="{833FA4B0-7731-EC49-88EA-B5E921ABE78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625F8F00-DDB6-EAC2-94F0-6E3DE7068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9360" y="6323366"/>
            <a:ext cx="5169436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r>
              <a:rPr lang="de-DE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KoRoLi</a:t>
            </a:r>
            <a:r>
              <a:rPr lang="de-DE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SoSe 2026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F3BDEE-35A9-44DE-B226-BF27396B4EF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22141" y="6136103"/>
            <a:ext cx="1373522" cy="61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66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1" r:id="rId3"/>
    <p:sldLayoutId id="2147483650" r:id="rId4"/>
    <p:sldLayoutId id="2147483660" r:id="rId5"/>
    <p:sldLayoutId id="2147483652" r:id="rId6"/>
    <p:sldLayoutId id="2147483651" r:id="rId7"/>
    <p:sldLayoutId id="2147483664" r:id="rId8"/>
    <p:sldLayoutId id="2147483662" r:id="rId9"/>
    <p:sldLayoutId id="2147483665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baseline="0">
          <a:solidFill>
            <a:schemeClr val="accent1"/>
          </a:solidFill>
          <a:latin typeface="Algerian" panose="04020705040A02060702" pitchFamily="82" charset="0"/>
          <a:ea typeface="+mj-ea"/>
          <a:cs typeface="+mj-cs"/>
        </a:defRPr>
      </a:lvl1pPr>
    </p:titleStyle>
    <p:bodyStyle>
      <a:lvl1pPr marL="228600" indent="-228600" algn="l" defTabSz="91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446400" indent="-228600" algn="l" defTabSz="73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675000" indent="-228600" algn="l" defTabSz="91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880200" indent="-228600" algn="l" defTabSz="91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1121400" indent="-228600" algn="l" defTabSz="91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438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3838" userDrawn="1">
          <p15:clr>
            <a:srgbClr val="F26B43"/>
          </p15:clr>
        </p15:guide>
        <p15:guide id="5" orient="horz" pos="1207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8AA01-BCCD-8476-7476-FF27EDF54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DA344E-BBBA-AC90-D1C9-5862367B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B870E-F9DB-461E-9066-4F91B412F53D}" type="datetime1">
              <a:rPr lang="de-DE" noProof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27.07.2026</a:t>
            </a:fld>
            <a:endParaRPr lang="de-DE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F87AC9-7604-94F0-B48F-10FE295E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KoRoLi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SoSe 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23EC78-7B08-2A63-CF6A-A61494D2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A4B0-7731-EC49-88EA-B5E921ABE78A}" type="slidenum">
              <a:rPr lang="de-DE" noProof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</a:t>
            </a:fld>
            <a:endParaRPr lang="de-DE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762F51-AC3F-501D-6644-CE497565879F}"/>
              </a:ext>
            </a:extLst>
          </p:cNvPr>
          <p:cNvSpPr/>
          <p:nvPr/>
        </p:nvSpPr>
        <p:spPr>
          <a:xfrm>
            <a:off x="964136" y="1818640"/>
            <a:ext cx="2126511" cy="1310967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Fitting a predictive model for the L1 reference data</a:t>
            </a:r>
            <a:endParaRPr lang="es-ES" dirty="0">
              <a:ln w="3175">
                <a:solidFill>
                  <a:schemeClr val="tx1"/>
                </a:solidFill>
              </a:ln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49DC7E2-58C8-6060-6FD6-5B61281ACE06}"/>
              </a:ext>
            </a:extLst>
          </p:cNvPr>
          <p:cNvSpPr/>
          <p:nvPr/>
        </p:nvSpPr>
        <p:spPr>
          <a:xfrm>
            <a:off x="3666459" y="2938274"/>
            <a:ext cx="2126511" cy="1198709"/>
          </a:xfrm>
          <a:prstGeom prst="roundRect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Applying the predictive model to the L2 data</a:t>
            </a:r>
            <a:endParaRPr lang="es-ES" dirty="0">
              <a:ln w="3175">
                <a:solidFill>
                  <a:schemeClr val="tx1"/>
                </a:solidFill>
              </a:ln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BBB707-6C4D-07CC-E9E2-1A0E6F936A3A}"/>
              </a:ext>
            </a:extLst>
          </p:cNvPr>
          <p:cNvSpPr/>
          <p:nvPr/>
        </p:nvSpPr>
        <p:spPr>
          <a:xfrm>
            <a:off x="6362897" y="2114899"/>
            <a:ext cx="2181874" cy="2111905"/>
          </a:xfrm>
          <a:prstGeom prst="round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Comparing the L1 model’s predictions to the L2 data +</a:t>
            </a:r>
            <a:br>
              <a:rPr lang="en-US" dirty="0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Codifying matches of L2 behaviour to L1 predictions</a:t>
            </a:r>
            <a:endParaRPr lang="de-DE" dirty="0">
              <a:ln w="3175">
                <a:solidFill>
                  <a:schemeClr val="tx1"/>
                </a:solidFill>
              </a:ln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5B4090-C65C-6F66-1BCD-D7D4B2629918}"/>
              </a:ext>
            </a:extLst>
          </p:cNvPr>
          <p:cNvSpPr/>
          <p:nvPr/>
        </p:nvSpPr>
        <p:spPr>
          <a:xfrm>
            <a:off x="8928807" y="2539309"/>
            <a:ext cx="2126511" cy="1045250"/>
          </a:xfrm>
          <a:prstGeom prst="roundRect">
            <a:avLst/>
          </a:prstGeom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 </a:t>
            </a:r>
            <a:r>
              <a:rPr lang="de-DE" dirty="0" err="1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dirty="0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lang="de-DE" dirty="0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de-DE" i="1" dirty="0" err="1">
                <a:ln w="3175">
                  <a:solidFill>
                    <a:schemeClr val="tx1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ReferenceLike</a:t>
            </a:r>
            <a:endParaRPr lang="es-ES" i="1" dirty="0">
              <a:ln w="3175">
                <a:solidFill>
                  <a:schemeClr val="tx1"/>
                </a:solidFill>
              </a:ln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1AD39C-9A37-B47F-B9BA-AAED1956CF82}"/>
              </a:ext>
            </a:extLst>
          </p:cNvPr>
          <p:cNvSpPr/>
          <p:nvPr/>
        </p:nvSpPr>
        <p:spPr>
          <a:xfrm>
            <a:off x="10161747" y="2027402"/>
            <a:ext cx="1132367" cy="5954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22" name="Arrow: Curved Right 21">
            <a:extLst>
              <a:ext uri="{FF2B5EF4-FFF2-40B4-BE49-F238E27FC236}">
                <a16:creationId xmlns:a16="http://schemas.microsoft.com/office/drawing/2014/main" id="{EC12E965-F339-8E95-43B3-8AAC139F3C61}"/>
              </a:ext>
            </a:extLst>
          </p:cNvPr>
          <p:cNvSpPr/>
          <p:nvPr/>
        </p:nvSpPr>
        <p:spPr>
          <a:xfrm rot="16790529">
            <a:off x="3077786" y="3319797"/>
            <a:ext cx="652366" cy="1336700"/>
          </a:xfrm>
          <a:prstGeom prst="curvedRightArrow">
            <a:avLst>
              <a:gd name="adj1" fmla="val 25551"/>
              <a:gd name="adj2" fmla="val 47201"/>
              <a:gd name="adj3" fmla="val 366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1D69FA-2F3F-C7CA-BAFA-C2C1340F1463}"/>
              </a:ext>
            </a:extLst>
          </p:cNvPr>
          <p:cNvSpPr/>
          <p:nvPr/>
        </p:nvSpPr>
        <p:spPr>
          <a:xfrm>
            <a:off x="2288562" y="3015719"/>
            <a:ext cx="1132367" cy="5954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24" name="Arrow: Curved Left 23">
            <a:extLst>
              <a:ext uri="{FF2B5EF4-FFF2-40B4-BE49-F238E27FC236}">
                <a16:creationId xmlns:a16="http://schemas.microsoft.com/office/drawing/2014/main" id="{7122A982-6B74-615C-52CE-F7C729325CC4}"/>
              </a:ext>
            </a:extLst>
          </p:cNvPr>
          <p:cNvSpPr/>
          <p:nvPr/>
        </p:nvSpPr>
        <p:spPr>
          <a:xfrm rot="14723200">
            <a:off x="5790733" y="1435532"/>
            <a:ext cx="610535" cy="152745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9F67DF-9B90-91B5-2BC6-F6672D8C2DA4}"/>
              </a:ext>
            </a:extLst>
          </p:cNvPr>
          <p:cNvSpPr/>
          <p:nvPr/>
        </p:nvSpPr>
        <p:spPr>
          <a:xfrm>
            <a:off x="4846494" y="2511270"/>
            <a:ext cx="1132367" cy="5954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25" name="Arrow: Curved Right 24">
            <a:extLst>
              <a:ext uri="{FF2B5EF4-FFF2-40B4-BE49-F238E27FC236}">
                <a16:creationId xmlns:a16="http://schemas.microsoft.com/office/drawing/2014/main" id="{17B1623B-E399-5D0D-FF71-A2343EB8A1F8}"/>
              </a:ext>
            </a:extLst>
          </p:cNvPr>
          <p:cNvSpPr/>
          <p:nvPr/>
        </p:nvSpPr>
        <p:spPr>
          <a:xfrm rot="14846486">
            <a:off x="9618911" y="3338287"/>
            <a:ext cx="474207" cy="1262517"/>
          </a:xfrm>
          <a:prstGeom prst="curvedRightArrow">
            <a:avLst>
              <a:gd name="adj1" fmla="val 25551"/>
              <a:gd name="adj2" fmla="val 47201"/>
              <a:gd name="adj3" fmla="val 366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3D52B9-CE10-4D7F-A687-1611B07A9BC9}"/>
              </a:ext>
            </a:extLst>
          </p:cNvPr>
          <p:cNvSpPr/>
          <p:nvPr/>
        </p:nvSpPr>
        <p:spPr>
          <a:xfrm>
            <a:off x="8287082" y="3858243"/>
            <a:ext cx="1132367" cy="5954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3B74252-EC1B-791F-C95E-08DAB896F3E7}"/>
              </a:ext>
            </a:extLst>
          </p:cNvPr>
          <p:cNvSpPr/>
          <p:nvPr/>
        </p:nvSpPr>
        <p:spPr>
          <a:xfrm>
            <a:off x="833008" y="4675731"/>
            <a:ext cx="4874345" cy="1198709"/>
          </a:xfrm>
          <a:prstGeom prst="roundRect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600" dirty="0" err="1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rfpnative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&lt;- </a:t>
            </a:r>
            <a:r>
              <a:rPr lang="de-DE" sz="1600" dirty="0" err="1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partykit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::</a:t>
            </a:r>
            <a:r>
              <a:rPr lang="de-DE" sz="1600" b="1" dirty="0" err="1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cforest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DE" sz="1600" b="1" dirty="0" err="1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SubjectType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~ 	</a:t>
            </a:r>
            <a:r>
              <a:rPr lang="de-DE" sz="1600" dirty="0" err="1">
                <a:ln w="3175">
                  <a:noFill/>
                </a:ln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SubjectPosition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de-DE" sz="1600" dirty="0" err="1">
                <a:ln w="3175">
                  <a:noFill/>
                </a:ln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InformationStructure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	</a:t>
            </a:r>
            <a:r>
              <a:rPr lang="de-DE" sz="1600" dirty="0" err="1">
                <a:ln w="3175">
                  <a:noFill/>
                </a:ln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ReferentialContinuity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de-DE" sz="1600" dirty="0" err="1">
                <a:ln w="3175">
                  <a:noFill/>
                </a:ln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ClauseType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b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de-DE" sz="1600" dirty="0" err="1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de-DE" sz="1600" dirty="0" err="1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datanative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s-ES" sz="1600" dirty="0">
              <a:ln w="3175">
                <a:noFill/>
              </a:ln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BE3B10F-C65C-C18D-8169-A91B72A61C66}"/>
              </a:ext>
            </a:extLst>
          </p:cNvPr>
          <p:cNvSpPr/>
          <p:nvPr/>
        </p:nvSpPr>
        <p:spPr>
          <a:xfrm>
            <a:off x="6603500" y="4680528"/>
            <a:ext cx="4874345" cy="1189114"/>
          </a:xfrm>
          <a:prstGeom prst="roundRect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rfpl2 &lt;- </a:t>
            </a:r>
            <a:r>
              <a:rPr lang="de-DE" sz="1600" dirty="0" err="1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party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::</a:t>
            </a:r>
            <a:r>
              <a:rPr lang="de-DE" sz="1600" b="1" dirty="0" err="1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cforest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DE" sz="1600" b="1" dirty="0" err="1">
                <a:ln w="3175">
                  <a:noFill/>
                </a:ln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ReferenceLike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~  </a:t>
            </a:r>
            <a:r>
              <a:rPr lang="de-DE" sz="1600" dirty="0" err="1">
                <a:ln w="3175">
                  <a:noFill/>
                </a:ln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SubjectType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	</a:t>
            </a:r>
            <a:r>
              <a:rPr lang="de-DE" sz="1600" dirty="0" err="1">
                <a:ln w="3175">
                  <a:noFill/>
                </a:ln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SubjectPosition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de-DE" sz="1600" dirty="0" err="1">
                <a:ln w="3175">
                  <a:noFill/>
                </a:ln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InformationStructure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	</a:t>
            </a:r>
            <a:r>
              <a:rPr lang="de-DE" sz="1600" dirty="0" err="1">
                <a:ln w="3175">
                  <a:noFill/>
                </a:ln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ReferentialContinuity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de-DE" sz="1600" dirty="0" err="1">
                <a:ln w="3175">
                  <a:noFill/>
                </a:ln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ClauseType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 </a:t>
            </a:r>
            <a:r>
              <a:rPr lang="de-DE" sz="1600" dirty="0">
                <a:ln w="3175">
                  <a:noFill/>
                </a:ln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	</a:t>
            </a:r>
            <a:r>
              <a:rPr lang="de-DE" sz="1600" dirty="0" err="1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DE" sz="1600" dirty="0">
                <a:ln w="3175">
                  <a:noFill/>
                </a:ln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datal2) </a:t>
            </a:r>
            <a:endParaRPr lang="es-ES" sz="1600" dirty="0">
              <a:ln w="3175">
                <a:noFill/>
              </a:ln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B01E8B1-84E5-1913-6DD3-8396122E00A2}"/>
              </a:ext>
            </a:extLst>
          </p:cNvPr>
          <p:cNvSpPr/>
          <p:nvPr/>
        </p:nvSpPr>
        <p:spPr>
          <a:xfrm>
            <a:off x="1464068" y="3186330"/>
            <a:ext cx="102612" cy="14288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4F09957D-B43F-1363-BDC5-FEF2669AAFA0}"/>
              </a:ext>
            </a:extLst>
          </p:cNvPr>
          <p:cNvSpPr/>
          <p:nvPr/>
        </p:nvSpPr>
        <p:spPr>
          <a:xfrm>
            <a:off x="10794553" y="3674615"/>
            <a:ext cx="102612" cy="9626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080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7" grpId="0" animBg="1"/>
      <p:bldP spid="22" grpId="0" animBg="1"/>
      <p:bldP spid="13" grpId="0" animBg="1"/>
      <p:bldP spid="24" grpId="0" animBg="1"/>
      <p:bldP spid="15" grpId="0" animBg="1"/>
      <p:bldP spid="25" grpId="0" animBg="1"/>
      <p:bldP spid="16" grpId="0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Office">
  <a:themeElements>
    <a:clrScheme name="Benutzerdefiniert 2">
      <a:dk1>
        <a:srgbClr val="000000"/>
      </a:dk1>
      <a:lt1>
        <a:srgbClr val="FFFFFF"/>
      </a:lt1>
      <a:dk2>
        <a:srgbClr val="005176"/>
      </a:dk2>
      <a:lt2>
        <a:srgbClr val="005176"/>
      </a:lt2>
      <a:accent1>
        <a:srgbClr val="005176"/>
      </a:accent1>
      <a:accent2>
        <a:srgbClr val="00A1C0"/>
      </a:accent2>
      <a:accent3>
        <a:srgbClr val="00A1C0"/>
      </a:accent3>
      <a:accent4>
        <a:srgbClr val="E05A52"/>
      </a:accent4>
      <a:accent5>
        <a:srgbClr val="E05A52"/>
      </a:accent5>
      <a:accent6>
        <a:srgbClr val="E05A52"/>
      </a:accent6>
      <a:hlink>
        <a:srgbClr val="00A1C0"/>
      </a:hlink>
      <a:folHlink>
        <a:srgbClr val="E05A52"/>
      </a:folHlink>
    </a:clrScheme>
    <a:fontScheme name="UzK 2023">
      <a:majorFont>
        <a:latin typeface="Albert Sans"/>
        <a:ea typeface=""/>
        <a:cs typeface=""/>
      </a:majorFont>
      <a:minorFont>
        <a:latin typeface="Alber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zK_PPT-Master_230201" id="{B5418ECA-8C0A-8F41-8796-9ECF9392E09D}" vid="{F9A25019-F941-2746-8D73-6550E2F1187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259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Algerian</vt:lpstr>
      <vt:lpstr>Albert Sans SemiBold</vt:lpstr>
      <vt:lpstr>Albert Sans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Sophia Bernhöft</dc:creator>
  <cp:lastModifiedBy>Tiziana Ilie</cp:lastModifiedBy>
  <cp:revision>954</cp:revision>
  <dcterms:created xsi:type="dcterms:W3CDTF">2023-01-31T13:16:58Z</dcterms:created>
  <dcterms:modified xsi:type="dcterms:W3CDTF">2026-07-27T12:58:09Z</dcterms:modified>
</cp:coreProperties>
</file>